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205472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52944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00416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47888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274320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205472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52944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00416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47888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621792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0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05472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52944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00416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47888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0" y="969264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0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205472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552944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900416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247888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1316736"/>
            <a:ext cx="73152" cy="73152"/>
          </a:xfrm>
          <a:prstGeom prst="oval">
            <a:avLst/>
          </a:prstGeom>
          <a:solidFill>
            <a:srgbClr val="1A56DB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914400"/>
            <a:ext cx="2377440" cy="31089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91440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 業 計 画 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13258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</a:t>
            </a:r>
            <a:endParaRPr lang="en-US" sz="5800" dirty="0"/>
          </a:p>
        </p:txBody>
      </p:sp>
      <p:sp>
        <p:nvSpPr>
          <p:cNvPr id="31" name="Text 29"/>
          <p:cNvSpPr/>
          <p:nvPr/>
        </p:nvSpPr>
        <p:spPr>
          <a:xfrm>
            <a:off x="640080" y="2286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マチャップ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40080" y="2880360"/>
            <a:ext cx="54864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0175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MAKE → OFFER → PRESENT → CONSULT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" y="4389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　|　Ver. 1.0（内部ドラフト）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本日のアジェンダ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3898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私たちがやる理由・解決する課題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6596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65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3500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ターゲット顧客（STP分析）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26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2971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310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提供価値（Value Proposition）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8620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886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3931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4270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5STEPビジネスモデル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0584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0058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21808" y="1051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13898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3C分析：市場環境の整理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659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6596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1965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21808" y="20116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21808" y="235000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マネタイズ戦略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2608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29260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21808" y="29718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21808" y="33101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チーム体制・役割分担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8620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86200"/>
            <a:ext cx="502920" cy="82296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88620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21808" y="393192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21808" y="4270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アクションプラン＆論点整理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　|　私たちが解決する課題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170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アイデアはあるのに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形にできずに終わる。スキル・時間・仲間がいない。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7043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77840" y="1170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意思決定が遅い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考えすぎて動けない。PoCまでの時間が長すぎる。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74320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9077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📣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88720" y="29077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作っても広がらない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いいものを作っても届け方がわからず埋もれる。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4023360" cy="1554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90779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77840" y="29077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収益化まで遠い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401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価値提供からマネタイズへの道筋が不明確なまま。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　|　ターゲット顧客（STP分析）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2651760" cy="4114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　セグメンテーション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・副業・個人事業主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・スモールチーム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・個人クリエイター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・課題を抱えた会社員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・IT活用したい中小企業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651760" cy="4114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　ターゲティング　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メインターゲット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アイデアや課題感はあるが、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「形にする手段」がない人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副業・フリーランスとして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動いている個人・小チーム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　ポジショニング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46304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「最速でアイデアを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プロダクトに変える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届ける ＋ 広める」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一気通貫で伴走できる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実行チームとして差別化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　|　私たちが提供する価値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A56D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「やりたいこと」を 1週間でプロダクトに変え、届けて、広げる。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スピード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FindからMakeまで最速。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意思決定を速くし、アイデアを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すぐ形にする。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3017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3474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開発・価値提供・発信・コンサルを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1チームでカバー。外注不要。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2331720"/>
            <a:ext cx="26060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35040" y="242316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30175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サイクル設計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34747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口コミと紹介が回り続ける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仕組みを設計し、資産を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積み上げる。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　|　5STEP ビジネスサイクル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96112"/>
            <a:ext cx="1508760" cy="4572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見つける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アイデア・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面倒事を集める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828800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38528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38528" y="896112"/>
            <a:ext cx="15087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938528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350008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38528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029968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最速で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プロダクト化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47288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57016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57016" y="896112"/>
            <a:ext cx="150876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3557016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968496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57016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提供する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48456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価値体験を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届ける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65776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75504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75504" y="896112"/>
            <a:ext cx="1508760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5175504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86984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75504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広める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66944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SNS・一覧ページ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発信自動化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684264" y="2194560"/>
            <a:ext cx="18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56DB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793992" y="896112"/>
            <a:ext cx="1508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93992" y="896112"/>
            <a:ext cx="15087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793992" y="89611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05472" y="8961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93992" y="14173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相談受ける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85432" y="1920240"/>
            <a:ext cx="1325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全ステップの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コンサル提供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31596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　このサイクルを高速で繰り返す。OFFER / PRESENTのフィードバックがFINDに戻り、サイクルが加速する。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　|　3C分析：市場環境の整理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個人・副業層：自分のアイデアを形にしたいが手段がない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40864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小規模事業者：業務の面倒事をツールで解決したい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54096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999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コンテンツ発信者：発信・運用の自動化ニーズが高い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67328"/>
            <a:ext cx="109728" cy="109728"/>
          </a:xfrm>
          <a:prstGeom prst="oval">
            <a:avLst/>
          </a:prstGeom>
          <a:solidFill>
            <a:srgbClr val="1A56D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7124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課題：スキル・コスト・時間・仲間の不足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72968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960120"/>
            <a:ext cx="269748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172968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10128" y="1627632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フリーランス開発者：単発契約が多く、継続支援が弱い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0128" y="2340864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SaaSツール群：汎用的すぎてカスタマイズが難しい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128" y="3054096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2999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Notionテンプレ販売：提供後のサポートなし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0128" y="3767328"/>
            <a:ext cx="109728" cy="109728"/>
          </a:xfrm>
          <a:prstGeom prst="oval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7124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差別化：開発→提供→発信→相談まで一気通貫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25896" y="960120"/>
            <a:ext cx="269748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25896" y="960120"/>
            <a:ext cx="2697480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6025896" y="96012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63056" y="1627632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15727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強み：スピード実行力・多形式対応（Web/LINE/Notion）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63056" y="2340864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3" name="Text 31"/>
          <p:cNvSpPr/>
          <p:nvPr/>
        </p:nvSpPr>
        <p:spPr>
          <a:xfrm>
            <a:off x="6327648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強み：アイデア収集→収益化サイクルの設計力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63056" y="3054096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6327648" y="2999232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課題：副業制約・法人形態未定・認知度ゼロからのスタート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63056" y="3767328"/>
            <a:ext cx="109728" cy="109728"/>
          </a:xfrm>
          <a:prstGeom prst="oval">
            <a:avLst/>
          </a:prstGeom>
          <a:solidFill>
            <a:srgbClr val="06B6D4"/>
          </a:solidFill>
          <a:ln/>
        </p:spPr>
      </p:sp>
      <p:sp>
        <p:nvSpPr>
          <p:cNvPr id="37" name="Text 35"/>
          <p:cNvSpPr/>
          <p:nvPr/>
        </p:nvSpPr>
        <p:spPr>
          <a:xfrm>
            <a:off x="6327648" y="3712464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機会：AI活用コスト低下で小チームでもサービス提供可能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　|　マネタイズ戦略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6012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96012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01498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直接販売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0759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買い切り / 月額サブスク / 従量課金の3形態。まず買い切りで価値検証し、継続利用者にはサブスク移行を促す。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2024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192024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197510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仲介・紹介（アフィリエイト型）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26771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パートナーや口コミ経由で集客し成果報酬で還元。紹介者にもメリットが発生する構造で拡散を促す。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8036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28803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293522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プレゼント型（ギフト購入）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22783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AさんがBさんへ贈る形で購入。例:「このLINEボットを友達にプレゼントする」ギフトURLで注文・送付が完結。感情的な拡散が起きやすい。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840480"/>
            <a:ext cx="512064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840480"/>
            <a:ext cx="73152" cy="8229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384048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0120" y="3895344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コンサルティング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187952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単発相談（1時間固定額）〜 月額顧問契約まで。FIND・MAKE・OFFER・PRESENT・CONSULTの全ステップが対象。実績が積み上がるほど単価UP。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23560" y="960120"/>
            <a:ext cx="3154680" cy="3749040"/>
          </a:xfrm>
          <a:prstGeom prst="rect">
            <a:avLst/>
          </a:prstGeom>
          <a:solidFill>
            <a:srgbClr val="0F1F3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23560" y="102412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収益の使い方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897880" y="1435608"/>
            <a:ext cx="260604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150876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ルール：プロジェクト単位で純利益から配分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715000" y="2011680"/>
            <a:ext cx="2880360" cy="713232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0" name="Text 28"/>
          <p:cNvSpPr/>
          <p:nvPr/>
        </p:nvSpPr>
        <p:spPr>
          <a:xfrm>
            <a:off x="5715000" y="201168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10528" y="21031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チーム運営・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開発費用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15000" y="2834640"/>
            <a:ext cx="2880360" cy="713232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3" name="Text 31"/>
          <p:cNvSpPr/>
          <p:nvPr/>
        </p:nvSpPr>
        <p:spPr>
          <a:xfrm>
            <a:off x="5715000" y="283464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510528" y="2926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メンバー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個人分配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15000" y="3657600"/>
            <a:ext cx="2880360" cy="713232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6" name="Text 34"/>
          <p:cNvSpPr/>
          <p:nvPr/>
        </p:nvSpPr>
        <p:spPr>
          <a:xfrm>
            <a:off x="5715000" y="3657600"/>
            <a:ext cx="777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510528" y="37490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中が指定する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外部還元先へ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431596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中の還元先はプロジェクト毎に指定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（例:若者支援・教育NPO・寄付先など）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　|　チーム体制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872" y="1097280"/>
            <a:ext cx="1133856" cy="113385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1261872" y="109728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サノ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14400" y="2944368"/>
            <a:ext cx="18288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全体管理 ＋ コンセプト展開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59352" y="1097280"/>
            <a:ext cx="1133856" cy="113385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3959352" y="109728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29184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611880" y="2944368"/>
            <a:ext cx="18288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プロダクト開発 ＋ 各フェーズ主導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89320" y="1005840"/>
            <a:ext cx="2468880" cy="356616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6832" y="1097280"/>
            <a:ext cx="1133856" cy="113385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656832" y="1097280"/>
            <a:ext cx="1133856" cy="1133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師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989320" y="2377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ししょー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6309360" y="2944368"/>
            <a:ext cx="18288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062472" y="3035808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意見出し ＋ 拡散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　|　具体事例：村ポータルの横展開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実績：マルタ村（川モル用）を起点に、あらゆるコミュニティへ展開する5STEPフロー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97280"/>
            <a:ext cx="1627632" cy="50292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課題を発見する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9184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モルックコミュニティで「大会申込・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集計・連絡をひとまとめにしたい」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というニーズを発見。同じ課題を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抱えるコミュニティは全国に多数。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883664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20240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20240" y="1097280"/>
            <a:ext cx="1627632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MAKE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93392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マルタ村を開発・テンプレ化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993392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Manusを使って短期間で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多機能ポータルを実装。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大会申込・集計・SNS・DM機能など。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テンプレ化して横展開できる形に。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47872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84448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84448" y="1097280"/>
            <a:ext cx="1627632" cy="5029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8"/>
          <p:cNvSpPr/>
          <p:nvPr/>
        </p:nvSpPr>
        <p:spPr>
          <a:xfrm>
            <a:off x="3584448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OFFER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新コミュニティに提供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0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少年サッカー・地域スポーツ・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趣味コミュニティなどに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カスタマイズして提供。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配車・エントリー・集計を一括管理。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12080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248656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48656" y="1097280"/>
            <a:ext cx="1627632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PRESENT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21808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事例として発信・拡散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321808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「○○チーム用ポータル作りました」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とSNS・Noteで発信。使ったメンバー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が口コミで紹介→新たなコミュニティ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へ波及するサイクルが生まれる。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76288" y="2560320"/>
            <a:ext cx="9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</a:rPr>
              <a:t>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12864" y="1097280"/>
            <a:ext cx="1627632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12864" y="1097280"/>
            <a:ext cx="162763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912864" y="109728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CONSULT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86016" y="1664208"/>
            <a:ext cx="14813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横展開のコンサルを受注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986016" y="2176272"/>
            <a:ext cx="148132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「うちにも作りたい」という相談が届く。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カスタマイズ・仕組み化・運用サポートを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有料で提供。実績が増えるほど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次のFINDにもつながる。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" y="4407408"/>
            <a:ext cx="8631936" cy="320040"/>
          </a:xfrm>
          <a:prstGeom prst="rect">
            <a:avLst/>
          </a:prstGeom>
          <a:solidFill>
            <a:srgbClr val="162947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4074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このフローは「モルック関連」「少年サッカー配車」「YouTube/SNSダッシュボード」など他のプロジェクトにも全て同様に適用できる。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　|　フェーズ別アクションプラン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32688"/>
            <a:ext cx="2697480" cy="7132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— 箱を作って1回回す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FINDの箱アプリをMAKEする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マルタ村ポータルをテンプレ化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横展開先の第1コミュニティを選定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アウトプット一覧ページを公開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172968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932688"/>
            <a:ext cx="2697480" cy="7132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3172968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172968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— 広めて収益化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82696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4136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横展開1件目をOFFER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82696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SNS・Noteで事例を発信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82696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コンサル1件を試験受付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82696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2〜3件目のFINDを同時進行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25896" y="932688"/>
            <a:ext cx="26974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25896" y="932688"/>
            <a:ext cx="2697480" cy="7132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1" name="Text 29"/>
          <p:cNvSpPr/>
          <p:nvPr/>
        </p:nvSpPr>
        <p:spPr>
          <a:xfrm>
            <a:off x="6025896" y="950976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25896" y="1289304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仕組みにする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35624" y="1737360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17373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サイクル振り返り・改善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35624" y="2487168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27064" y="248716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CONSULT体制を定常化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35624" y="3236976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7064" y="32369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収益配分ルールを確定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135624" y="3986784"/>
            <a:ext cx="2487168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39867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法人化の要否を議論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　|　論点整理と次のアクション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601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まだ決まっていない論点と選択肢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97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47218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法人形態（個人 or 法人化）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78308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個人事業主の集合体でスタート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売上が立ち始めたら法人化を検討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532888"/>
            <a:ext cx="4297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532888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587752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収益配分ルールの合意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89864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プロジェクト単位で都度3名で合意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固定ルール（30/30/40）を先に決める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648456"/>
            <a:ext cx="4297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648456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3703320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最初のプロジェクトを何にするか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" y="4014216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3人でブレスト → FINDの箱に入れて選ぶ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サノ or 中が持込みでスタート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96012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まず動くこと（2つ）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417320"/>
            <a:ext cx="3977640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417320"/>
            <a:ext cx="457200" cy="14813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417320"/>
            <a:ext cx="4572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58384" y="1527048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FINDの箱を作る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58384" y="19659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or スプレッドシートでOK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アイデア・面倒事をとにかく放り込む場所を整備する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081528"/>
            <a:ext cx="3977640" cy="1481328"/>
          </a:xfrm>
          <a:prstGeom prst="rect">
            <a:avLst/>
          </a:prstGeom>
          <a:solidFill>
            <a:srgbClr val="1E3A5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081528"/>
            <a:ext cx="457200" cy="14813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081528"/>
            <a:ext cx="45720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58384" y="3191256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最初のプロジェクトを1つ決めてMAKEへ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58384" y="3630168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FINDしたら1週間以内にMAKEを開始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サイクルを1回まず回しきることが最優先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 事業計画　|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9536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37744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33756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29768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5780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17804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138160" y="27432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41732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37744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25780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17804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123444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41732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7744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3756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25780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1792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17804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138160" y="219456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41732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37744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33756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29768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25780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1792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17804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138160" y="315468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41732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37744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33756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29768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25780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21792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17804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38160" y="4114800"/>
            <a:ext cx="64008" cy="64008"/>
          </a:xfrm>
          <a:prstGeom prst="oval">
            <a:avLst/>
          </a:prstGeom>
          <a:solidFill>
            <a:srgbClr val="1A56DB">
              <a:alpha val="3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14400" y="1188720"/>
            <a:ext cx="7315200" cy="2743200"/>
          </a:xfrm>
          <a:prstGeom prst="rect">
            <a:avLst/>
          </a:prstGeom>
          <a:solidFill>
            <a:srgbClr val="1A56D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build.</a:t>
            </a:r>
            <a:endParaRPr lang="en-US" sz="5200" dirty="0"/>
          </a:p>
        </p:txBody>
      </p:sp>
      <p:sp>
        <p:nvSpPr>
          <p:cNvPr id="50" name="Text 48"/>
          <p:cNvSpPr/>
          <p:nvPr/>
        </p:nvSpPr>
        <p:spPr>
          <a:xfrm>
            <a:off x="914400" y="2240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MAKE → OFFER → PRESENT → CONSULT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速く、小さく、確実に回す。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4400" y="4206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MACHAP　|　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MACHAP 事業計画</dc:title>
  <dc:subject>PptxGenJS Presentation</dc:subject>
  <dc:creator>PptxGenJS</dc:creator>
  <cp:lastModifiedBy>PptxGenJS</cp:lastModifiedBy>
  <cp:revision>1</cp:revision>
  <dcterms:created xsi:type="dcterms:W3CDTF">2026-03-04T05:56:52Z</dcterms:created>
  <dcterms:modified xsi:type="dcterms:W3CDTF">2026-03-04T05:56:52Z</dcterms:modified>
</cp:coreProperties>
</file>