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205472" y="274320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552944" y="274320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900416" y="274320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247888" y="274320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595360" y="274320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58000" y="621792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205472" y="621792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552944" y="621792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900416" y="621792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247888" y="621792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95360" y="621792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0" y="969264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205472" y="969264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552944" y="969264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900416" y="969264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247888" y="969264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595360" y="969264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0" y="1316736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205472" y="1316736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552944" y="1316736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7900416" y="1316736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247888" y="1316736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595360" y="1316736"/>
            <a:ext cx="73152" cy="73152"/>
          </a:xfrm>
          <a:prstGeom prst="oval">
            <a:avLst/>
          </a:prstGeom>
          <a:solidFill>
            <a:srgbClr val="1A56DB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40080" y="914400"/>
            <a:ext cx="2377440" cy="310896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91440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 業 計 画 書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132588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</a:t>
            </a:r>
            <a:endParaRPr lang="en-US" sz="5800" dirty="0"/>
          </a:p>
        </p:txBody>
      </p:sp>
      <p:sp>
        <p:nvSpPr>
          <p:cNvPr id="30" name="Text 28"/>
          <p:cNvSpPr/>
          <p:nvPr/>
        </p:nvSpPr>
        <p:spPr>
          <a:xfrm>
            <a:off x="640080" y="228600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マチャップ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0080" y="2880360"/>
            <a:ext cx="5486400" cy="36576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0175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→ MAKE → OFFER → PRESENT → CONSULT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0080" y="4389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|　Ver. 1.0（内部ドラフト）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本日のアジェンダ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02920" cy="82296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2688" y="105156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138988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私たちがやる理由・解決する課題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4023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965960"/>
            <a:ext cx="502920" cy="82296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96596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32688" y="20116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32688" y="235000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ターゲット顧客（STP分析）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4023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926080"/>
            <a:ext cx="502920" cy="82296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92608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2688" y="297180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32688" y="331012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提供価値（Value Proposition）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886200"/>
            <a:ext cx="4023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886200"/>
            <a:ext cx="502920" cy="82296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88620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" y="393192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32688" y="42702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5STEPビジネスモデル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4023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1005840"/>
            <a:ext cx="502920" cy="82296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100584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21808" y="105156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21808" y="138988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3C分析：市場環境の整理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1965960"/>
            <a:ext cx="4023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1965960"/>
            <a:ext cx="502920" cy="82296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196596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21808" y="20116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235000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マネタイズ戦略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2926080"/>
            <a:ext cx="4023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2926080"/>
            <a:ext cx="502920" cy="82296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292608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321808" y="297180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321808" y="331012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チーム体制・役割分担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54880" y="3886200"/>
            <a:ext cx="4023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754880" y="3886200"/>
            <a:ext cx="502920" cy="82296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0" name="Text 38"/>
          <p:cNvSpPr/>
          <p:nvPr/>
        </p:nvSpPr>
        <p:spPr>
          <a:xfrm>
            <a:off x="4754880" y="388620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321808" y="393192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321808" y="42702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アクションプラン＆論点整理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　|　私たちが解決する課題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17043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117043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アイデアはあるのに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形にできずに終わる。スキル・時間・仲間がいない。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023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17043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577840" y="117043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意思決定が遅い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664208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考えすぎて動けない。PoCまでの時間が長すぎる。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743200"/>
            <a:ext cx="4023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9077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📣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188720" y="290779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作っても広がらない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401568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いいものを作っても届け方がわからず埋もれる。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37760" y="29077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577840" y="290779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収益化まで遠い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37760" y="3401568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価値提供からマネタイズへの道筋が不明確なまま。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　|　ターゲット顧客（STP分析）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651760" cy="41148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　セグメンテーション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・副業・個人事業主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endParaRPr lang="en-US" sz="1300" dirty="0"/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・スモールチーム / 個人クリエイター</a:t>
            </a:r>
          </a:p>
          <a:p>
            <a:pPr indent="0" marL="0">
              <a:spcAft>
                <a:spcPts val="1000"/>
              </a:spcAft>
              <a:buNone/>
            </a:pPr>
            <a:endParaRPr lang="en-US" sz="1300" dirty="0"/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・AI活用をできていない個人</a:t>
            </a:r>
          </a:p>
          <a:p>
            <a:pPr indent="0" marL="0">
              <a:spcAft>
                <a:spcPts val="1000"/>
              </a:spcAft>
              <a:buNone/>
            </a:pPr>
            <a:endParaRPr lang="en-US" sz="1300" dirty="0"/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・飲食店・店舗経営者</a:t>
            </a:r>
          </a:p>
          <a:p>
            <a:pPr indent="0" marL="0">
              <a:spcAft>
                <a:spcPts val="1000"/>
              </a:spcAft>
              <a:buNone/>
            </a:pPr>
            <a:endParaRPr lang="en-US" sz="1300" dirty="0"/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・事業経営者 / 中小企業</a:t>
            </a:r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60120"/>
            <a:ext cx="2651760" cy="4114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9601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　ターゲティング　★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14630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メインターゲット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アイデアや課題感はあるが、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「形にする手段」がない人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個人・副業者・店舗経営者・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AI活用したい事業者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6517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960120"/>
            <a:ext cx="2651760" cy="4114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9601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　ポジショニング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63640" y="14630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「最速でアイデアを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プロダクトに変える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届ける ＋ 広める」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一気通貫で伴走できる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実行チームとして差別化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　|　私たちが提供する価値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8412480" cy="1188720"/>
          </a:xfrm>
          <a:prstGeom prst="rect">
            <a:avLst/>
          </a:prstGeom>
          <a:solidFill>
            <a:srgbClr val="1A56D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9601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「やりたいこと」を 1週間でプロダクトに変え、届けて、広げる。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2331720"/>
            <a:ext cx="2606040" cy="2331720"/>
          </a:xfrm>
          <a:prstGeom prst="rect">
            <a:avLst/>
          </a:prstGeom>
          <a:solidFill>
            <a:srgbClr val="1E3A5F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24231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スピード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FindからMakeまで最速。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意思決定を速くし、アイデアを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すぐ形にする。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2331720"/>
            <a:ext cx="2606040" cy="2331720"/>
          </a:xfrm>
          <a:prstGeom prst="rect">
            <a:avLst/>
          </a:prstGeom>
          <a:solidFill>
            <a:srgbClr val="1E3A5F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24231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一気通貫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91840" y="347472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開発・価値提供・発信・コンサルを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1チームでカバー。外注不要。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2331720"/>
            <a:ext cx="2606040" cy="2331720"/>
          </a:xfrm>
          <a:prstGeom prst="rect">
            <a:avLst/>
          </a:prstGeom>
          <a:solidFill>
            <a:srgbClr val="1E3A5F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24231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3017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サイクル設計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347472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口コミと紹介が回り続ける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仕組みを設計し、資産を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積み上げる。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　|　5STEP ビジネスサイクル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58952"/>
            <a:ext cx="8229600" cy="274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896112"/>
            <a:ext cx="1508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96112"/>
            <a:ext cx="150876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9611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89611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141732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見つける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1325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アイデア・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面倒事を集める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828800" y="2194560"/>
            <a:ext cx="18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56DB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938528" y="896112"/>
            <a:ext cx="1508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38528" y="896112"/>
            <a:ext cx="150876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1938528" y="89611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50008" y="89611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38528" y="141732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029968" y="1920240"/>
            <a:ext cx="1325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最速で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プロダクト化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447288" y="2194560"/>
            <a:ext cx="18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56DB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57016" y="896112"/>
            <a:ext cx="1508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57016" y="896112"/>
            <a:ext cx="1508760" cy="4572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89611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968496" y="89611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57016" y="141732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提供する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48456" y="1920240"/>
            <a:ext cx="1325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価値体験を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届ける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65776" y="2194560"/>
            <a:ext cx="18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56DB"/>
                </a:solidFill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175504" y="896112"/>
            <a:ext cx="1508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75504" y="896112"/>
            <a:ext cx="1508760" cy="4572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7" name="Text 25"/>
          <p:cNvSpPr/>
          <p:nvPr/>
        </p:nvSpPr>
        <p:spPr>
          <a:xfrm>
            <a:off x="5175504" y="89611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586984" y="89611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175504" y="141732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広める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66944" y="1920240"/>
            <a:ext cx="1325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SNS・一覧ページ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発信自動化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684264" y="2194560"/>
            <a:ext cx="18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56DB"/>
                </a:solidFill>
              </a:rPr>
              <a:t>→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793992" y="896112"/>
            <a:ext cx="1508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793992" y="896112"/>
            <a:ext cx="150876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6793992" y="89611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205472" y="896112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793992" y="141732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相談受ける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85432" y="1920240"/>
            <a:ext cx="1325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全ステップの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コンサル提供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4315968"/>
            <a:ext cx="8503920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31596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　このサイクルを高速で繰り返す。OFFER / PRESENTのフィードバックがFINDに戻り、サイクルが加速する。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　|　3C分析：市場環境の整理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960120"/>
            <a:ext cx="2697480" cy="3657600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697480" cy="50292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9601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109728" cy="109728"/>
          </a:xfrm>
          <a:prstGeom prst="oval">
            <a:avLst/>
          </a:prstGeom>
          <a:solidFill>
            <a:srgbClr val="1A56D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572768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個人・副業層：自分のアイデアを形にしたいが手段がない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40864"/>
            <a:ext cx="109728" cy="109728"/>
          </a:xfrm>
          <a:prstGeom prst="oval">
            <a:avLst/>
          </a:prstGeom>
          <a:solidFill>
            <a:srgbClr val="1A56D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2860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小規模事業者：業務の面倒事をツールで解決したい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54096"/>
            <a:ext cx="109728" cy="109728"/>
          </a:xfrm>
          <a:prstGeom prst="oval">
            <a:avLst/>
          </a:prstGeom>
          <a:solidFill>
            <a:srgbClr val="1A56D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299923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コンテンツ発信者：発信・運用の自動化ニーズが高い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67328"/>
            <a:ext cx="109728" cy="109728"/>
          </a:xfrm>
          <a:prstGeom prst="oval">
            <a:avLst/>
          </a:prstGeom>
          <a:solidFill>
            <a:srgbClr val="1A56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712464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課題：スキル・コスト・時間・仲間の不足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72968" y="960120"/>
            <a:ext cx="2697480" cy="3657600"/>
          </a:xfrm>
          <a:prstGeom prst="rect">
            <a:avLst/>
          </a:prstGeom>
          <a:solidFill>
            <a:srgbClr val="1E3A5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72968" y="960120"/>
            <a:ext cx="269748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3172968" y="9601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10128" y="1627632"/>
            <a:ext cx="109728" cy="109728"/>
          </a:xfrm>
          <a:prstGeom prst="oval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0" y="1572768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フリーランス開発者：単発契約が多く、継続支援が弱い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10128" y="2340864"/>
            <a:ext cx="109728" cy="109728"/>
          </a:xfrm>
          <a:prstGeom prst="oval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3474720" y="22860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SaaSツール群：汎用的すぎてカスタマイズが難しい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10128" y="3054096"/>
            <a:ext cx="109728" cy="109728"/>
          </a:xfrm>
          <a:prstGeom prst="oval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0" y="299923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Notionテンプレ販売：提供後のサポートなし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10128" y="3767328"/>
            <a:ext cx="109728" cy="109728"/>
          </a:xfrm>
          <a:prstGeom prst="oval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3712464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差別化：開発→提供→発信→相談まで一気通貫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25896" y="960120"/>
            <a:ext cx="2697480" cy="3657600"/>
          </a:xfrm>
          <a:prstGeom prst="rect">
            <a:avLst/>
          </a:prstGeom>
          <a:solidFill>
            <a:srgbClr val="1E3A5F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25896" y="960120"/>
            <a:ext cx="2697480" cy="502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6025896" y="9601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63056" y="1627632"/>
            <a:ext cx="109728" cy="109728"/>
          </a:xfrm>
          <a:prstGeom prst="oval">
            <a:avLst/>
          </a:prstGeom>
          <a:solidFill>
            <a:srgbClr val="06B6D4"/>
          </a:solidFill>
          <a:ln/>
        </p:spPr>
      </p:sp>
      <p:sp>
        <p:nvSpPr>
          <p:cNvPr id="30" name="Text 28"/>
          <p:cNvSpPr/>
          <p:nvPr/>
        </p:nvSpPr>
        <p:spPr>
          <a:xfrm>
            <a:off x="6327648" y="1572768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強み：スピード実行力・多形式対応（Web/LINE/Notion）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63056" y="2340864"/>
            <a:ext cx="109728" cy="109728"/>
          </a:xfrm>
          <a:prstGeom prst="oval">
            <a:avLst/>
          </a:prstGeom>
          <a:solidFill>
            <a:srgbClr val="06B6D4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22860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強み：アイデア収集→収益化サイクルの設計力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63056" y="3054096"/>
            <a:ext cx="109728" cy="109728"/>
          </a:xfrm>
          <a:prstGeom prst="oval">
            <a:avLst/>
          </a:prstGeom>
          <a:solidFill>
            <a:srgbClr val="06B6D4"/>
          </a:solidFill>
          <a:ln/>
        </p:spPr>
      </p:sp>
      <p:sp>
        <p:nvSpPr>
          <p:cNvPr id="34" name="Text 32"/>
          <p:cNvSpPr/>
          <p:nvPr/>
        </p:nvSpPr>
        <p:spPr>
          <a:xfrm>
            <a:off x="6327648" y="299923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課題：副業制約・法人形態未定・認知度ゼロからのスタート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63056" y="3767328"/>
            <a:ext cx="109728" cy="109728"/>
          </a:xfrm>
          <a:prstGeom prst="oval">
            <a:avLst/>
          </a:prstGeom>
          <a:solidFill>
            <a:srgbClr val="06B6D4"/>
          </a:solidFill>
          <a:ln/>
        </p:spPr>
      </p:sp>
      <p:sp>
        <p:nvSpPr>
          <p:cNvPr id="36" name="Text 34"/>
          <p:cNvSpPr/>
          <p:nvPr/>
        </p:nvSpPr>
        <p:spPr>
          <a:xfrm>
            <a:off x="6327648" y="3712464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機会：AI活用コスト低下で小チームでもサービス提供可能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8" name="Text 36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　|　マネタイズ戦略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960120"/>
            <a:ext cx="51206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73152" cy="8229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402336" y="96012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1014984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直接販売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307592"/>
            <a:ext cx="4343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買い切り / 月額サブスク / 従量課金の3形態。まず買い切りで価値検証し、継続利用者にはサブスク移行を促す。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920240"/>
            <a:ext cx="51206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920240"/>
            <a:ext cx="73152" cy="8229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" y="192024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1975104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仲介・紹介（アフィリエイト型）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267712"/>
            <a:ext cx="4343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パートナーや口コミ経由で集客し成果報酬で還元。紹介者にもメリットが発生する構造で拡散を促す。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880360"/>
            <a:ext cx="51206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880360"/>
            <a:ext cx="73152" cy="8229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402336" y="288036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60120" y="2935224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プレゼント型（ギフト購入）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227832"/>
            <a:ext cx="4343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AさんがBさんへ贈る形で購入。例:「このLINEボットを友達にプレゼントする」ギフトURLで注文・送付が完結。感情的な拡散が起きやすい。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840480"/>
            <a:ext cx="51206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840480"/>
            <a:ext cx="73152" cy="8229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402336" y="3840480"/>
            <a:ext cx="502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3895344"/>
            <a:ext cx="4343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コンサルティング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187952"/>
            <a:ext cx="4343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単発相談（1時間固定額）〜 月額顧問契約まで。FIND・MAKE・OFFER・PRESENT・CONSULTの全ステップが対象。実績が積み上がるほど単価UP。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23560" y="960120"/>
            <a:ext cx="3154680" cy="3749040"/>
          </a:xfrm>
          <a:prstGeom prst="rect">
            <a:avLst/>
          </a:prstGeom>
          <a:solidFill>
            <a:srgbClr val="0F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623560" y="1024128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収益の使い方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897880" y="1435608"/>
            <a:ext cx="2606040" cy="274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27" name="Text 25"/>
          <p:cNvSpPr/>
          <p:nvPr/>
        </p:nvSpPr>
        <p:spPr>
          <a:xfrm>
            <a:off x="5715000" y="150876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ルール：プロジェクト単位で純利益から配分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715000" y="2011680"/>
            <a:ext cx="2880360" cy="713232"/>
          </a:xfrm>
          <a:prstGeom prst="rect">
            <a:avLst/>
          </a:prstGeom>
          <a:solidFill>
            <a:srgbClr val="162947"/>
          </a:solidFill>
          <a:ln/>
        </p:spPr>
      </p:sp>
      <p:sp>
        <p:nvSpPr>
          <p:cNvPr id="29" name="Text 27"/>
          <p:cNvSpPr/>
          <p:nvPr/>
        </p:nvSpPr>
        <p:spPr>
          <a:xfrm>
            <a:off x="5715000" y="2011680"/>
            <a:ext cx="777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0528" y="2103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チーム運営・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開発費用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715000" y="2834640"/>
            <a:ext cx="2880360" cy="713232"/>
          </a:xfrm>
          <a:prstGeom prst="rect">
            <a:avLst/>
          </a:prstGeom>
          <a:solidFill>
            <a:srgbClr val="162947"/>
          </a:solidFill>
          <a:ln/>
        </p:spPr>
      </p:sp>
      <p:sp>
        <p:nvSpPr>
          <p:cNvPr id="32" name="Text 30"/>
          <p:cNvSpPr/>
          <p:nvPr/>
        </p:nvSpPr>
        <p:spPr>
          <a:xfrm>
            <a:off x="5715000" y="2834640"/>
            <a:ext cx="777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510528" y="2926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メンバー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個人分配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715000" y="3657600"/>
            <a:ext cx="2880360" cy="713232"/>
          </a:xfrm>
          <a:prstGeom prst="rect">
            <a:avLst/>
          </a:prstGeom>
          <a:solidFill>
            <a:srgbClr val="162947"/>
          </a:solidFill>
          <a:ln/>
        </p:spPr>
      </p:sp>
      <p:sp>
        <p:nvSpPr>
          <p:cNvPr id="35" name="Text 33"/>
          <p:cNvSpPr/>
          <p:nvPr/>
        </p:nvSpPr>
        <p:spPr>
          <a:xfrm>
            <a:off x="5715000" y="3657600"/>
            <a:ext cx="777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510528" y="37490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中が指定する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外部還元先へ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69280" y="431596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中の還元先はプロジェクト毎に指定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（例:若者支援・教育NPO・寄付先など）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9" name="Text 37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　|　チーム体制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05840"/>
            <a:ext cx="246888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37744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サノ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914400" y="2944368"/>
            <a:ext cx="1828800" cy="274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" y="3035808"/>
            <a:ext cx="23225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全体管理 ＋ コンセプト展開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46888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237744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3611880" y="2944368"/>
            <a:ext cx="1828800" cy="2743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3364992" y="3035808"/>
            <a:ext cx="23225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プロダクト開発 ＋ 各フェーズ主導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89320" y="1005840"/>
            <a:ext cx="2468880" cy="3566160"/>
          </a:xfrm>
          <a:prstGeom prst="rect">
            <a:avLst/>
          </a:prstGeom>
          <a:solidFill>
            <a:srgbClr val="1E3A5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9320" y="237744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ししょー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309360" y="2944368"/>
            <a:ext cx="1828800" cy="2743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6062472" y="3035808"/>
            <a:ext cx="23225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意見出し ＋ 拡散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　|　具体事例：村ポータルの横展開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実績：マルタ村（川モル用）を起点に、あらゆるコミュニティへ展開する5STEPフロー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743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1097280"/>
            <a:ext cx="1627632" cy="3246120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097280"/>
            <a:ext cx="1627632" cy="50292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" y="109728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" y="1664208"/>
            <a:ext cx="14813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課題を発見する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9184" y="217627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モルックコミュニティで「大会申込・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集計・連絡をひとまとめにしたい」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というニーズを発見。同じ課題を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抱えるコミュニティは全国に多数。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883664" y="2560320"/>
            <a:ext cx="9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20240" y="1097280"/>
            <a:ext cx="1627632" cy="3246120"/>
          </a:xfrm>
          <a:prstGeom prst="rect">
            <a:avLst/>
          </a:prstGeom>
          <a:solidFill>
            <a:srgbClr val="1E3A5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20240" y="1097280"/>
            <a:ext cx="1627632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109728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MAKE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93392" y="1664208"/>
            <a:ext cx="14813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マルタ村を開発・テンプレ化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93392" y="217627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Manusを使って短期間で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多機能ポータルを実装。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大会申込・集計・SNS・DM機能など。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テンプレ化して横展開できる形に。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47872" y="2560320"/>
            <a:ext cx="9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584448" y="1097280"/>
            <a:ext cx="1627632" cy="3246120"/>
          </a:xfrm>
          <a:prstGeom prst="rect">
            <a:avLst/>
          </a:prstGeom>
          <a:solidFill>
            <a:srgbClr val="1E3A5F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84448" y="1097280"/>
            <a:ext cx="1627632" cy="502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7"/>
          <p:cNvSpPr/>
          <p:nvPr/>
        </p:nvSpPr>
        <p:spPr>
          <a:xfrm>
            <a:off x="3584448" y="109728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OFFER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0" y="1664208"/>
            <a:ext cx="14813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新コミュニティに提供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657600" y="217627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少年サッカー・地域スポーツ・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趣味コミュニティなどに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カスタマイズして提供。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配車・エントリー・集計を一括管理。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2560320"/>
            <a:ext cx="9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248656" y="1097280"/>
            <a:ext cx="1627632" cy="3246120"/>
          </a:xfrm>
          <a:prstGeom prst="rect">
            <a:avLst/>
          </a:prstGeom>
          <a:solidFill>
            <a:srgbClr val="1E3A5F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248656" y="1097280"/>
            <a:ext cx="1627632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5248656" y="109728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PRESENT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21808" y="1664208"/>
            <a:ext cx="14813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事例として発信・拡散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321808" y="217627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「○○チーム用ポータル作りました」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とSNS・Noteで発信。使ったメンバー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が口コミで紹介→新たなコミュニティ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へ波及するサイクルが生まれる。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876288" y="2560320"/>
            <a:ext cx="9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12864" y="1097280"/>
            <a:ext cx="1627632" cy="324612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912864" y="1097280"/>
            <a:ext cx="1627632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9"/>
          <p:cNvSpPr/>
          <p:nvPr/>
        </p:nvSpPr>
        <p:spPr>
          <a:xfrm>
            <a:off x="6912864" y="109728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CONSULT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86016" y="1664208"/>
            <a:ext cx="14813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横展開のコンサルを受注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86016" y="2176272"/>
            <a:ext cx="148132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「うちにも作りたい」という相談が届く。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カスタマイズ・仕組み化・運用サポートを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有料で提供。実績が増えるほど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次のFINDにもつながる。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" y="4407408"/>
            <a:ext cx="8631936" cy="320040"/>
          </a:xfrm>
          <a:prstGeom prst="rect">
            <a:avLst/>
          </a:prstGeom>
          <a:solidFill>
            <a:srgbClr val="162947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44074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このフローは「モルック関連」「少年サッカー配車」「YouTube/SNSダッシュボード」など他のプロジェクトにも全て同様に適用できる。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37" name="Text 35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　|　フェーズ別アクションプラン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932688"/>
            <a:ext cx="269748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32688"/>
            <a:ext cx="2697480" cy="713232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950976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20040" y="1289304"/>
            <a:ext cx="2697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— 箱を作って1回回す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" y="1737360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737360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FINDの箱アプリをMAKEする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" y="2487168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248716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マルタ村ポータルをテンプレ化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" y="3236976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3236976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横展開先の第1コミュニティを選定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9768" y="3986784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3986784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アウトプット一覧ページを公開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172968" y="932688"/>
            <a:ext cx="269748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72968" y="932688"/>
            <a:ext cx="2697480" cy="71323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3172968" y="950976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72968" y="1289304"/>
            <a:ext cx="2697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— 広めて収益化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82696" y="1737360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4136" y="1737360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横展開1件目をOFFER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82696" y="2487168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74136" y="248716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SNS・Noteで事例を発信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82696" y="3236976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4136" y="3236976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コンサル1件を試験受付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82696" y="3986784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74136" y="3986784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2〜3件目のFINDを同時進行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25896" y="932688"/>
            <a:ext cx="269748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25896" y="932688"/>
            <a:ext cx="2697480" cy="71323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0" name="Text 28"/>
          <p:cNvSpPr/>
          <p:nvPr/>
        </p:nvSpPr>
        <p:spPr>
          <a:xfrm>
            <a:off x="6025896" y="950976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25896" y="1289304"/>
            <a:ext cx="2697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— 仕組みにする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35624" y="1737360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27064" y="1737360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サイクル振り返り・改善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135624" y="2487168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27064" y="248716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CONSULT体制を定常化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135624" y="3236976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27064" y="3236976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収益配分ルールを確定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135624" y="3986784"/>
            <a:ext cx="248716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27064" y="3986784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法人化の要否を議論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　|　論点整理と次のアクション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6012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まだ決まっていない論点と選択肢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29768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17320"/>
            <a:ext cx="54864" cy="10058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1472184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法人形態（個人 or 法人化）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783080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個人事業主の集合体でスタート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売上が立ち始めたら法人化を検討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532888"/>
            <a:ext cx="429768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2532888"/>
            <a:ext cx="54864" cy="10058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587752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収益配分ルールの合意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898648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プロジェクト単位で都度3名で合意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固定ルール（30/30/40）を先に決める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3648456"/>
            <a:ext cx="429768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3648456"/>
            <a:ext cx="54864" cy="10058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3703320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最初のプロジェクトを何にするか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" y="4014216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3人でブレスト → FINDの箱に入れて選ぶ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サノ or 中が持込みでスタート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46320" y="960120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まず動くこと（2つ）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1417320"/>
            <a:ext cx="3977640" cy="1481328"/>
          </a:xfrm>
          <a:prstGeom prst="rect">
            <a:avLst/>
          </a:prstGeom>
          <a:solidFill>
            <a:srgbClr val="1E3A5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1417320"/>
            <a:ext cx="457200" cy="148132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1417320"/>
            <a:ext cx="45720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358384" y="1527048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FINDの箱を作る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58384" y="196596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or スプレッドシートでOK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アイデア・面倒事をとにかく放り込む場所を整備する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3081528"/>
            <a:ext cx="3977640" cy="1481328"/>
          </a:xfrm>
          <a:prstGeom prst="rect">
            <a:avLst/>
          </a:prstGeom>
          <a:solidFill>
            <a:srgbClr val="1E3A5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3081528"/>
            <a:ext cx="457200" cy="148132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3081528"/>
            <a:ext cx="45720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358384" y="3191256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最初のプロジェクトを1つ決めてMAKEへ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58384" y="3630168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FINDしたら1週間以内にMAKEを開始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サイクルを1回まず回しきることが最優先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 事業計画　| CONFIDENTIAL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9536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41732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37744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33756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29768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25780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21792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17804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138160" y="27432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41732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7744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33756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429768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17804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123444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1732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33756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29768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5780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17804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138160" y="219456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1732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37744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33756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29768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25780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17804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138160" y="315468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5720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41732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37744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33756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29768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5780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1792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7804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138160" y="4114800"/>
            <a:ext cx="64008" cy="64008"/>
          </a:xfrm>
          <a:prstGeom prst="oval">
            <a:avLst/>
          </a:prstGeom>
          <a:solidFill>
            <a:srgbClr val="1A56DB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14400" y="1188720"/>
            <a:ext cx="7315200" cy="2743200"/>
          </a:xfrm>
          <a:prstGeom prst="rect">
            <a:avLst/>
          </a:prstGeom>
          <a:solidFill>
            <a:srgbClr val="1A56D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14400" y="12801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build.</a:t>
            </a:r>
            <a:endParaRPr lang="en-US" sz="5200" dirty="0"/>
          </a:p>
        </p:txBody>
      </p:sp>
      <p:sp>
        <p:nvSpPr>
          <p:cNvPr id="49" name="Text 47"/>
          <p:cNvSpPr/>
          <p:nvPr/>
        </p:nvSpPr>
        <p:spPr>
          <a:xfrm>
            <a:off x="91440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→ MAKE → OFFER → PRESENT → CONSULT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914400" y="27432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8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速く、小さく、確実に回す。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MACHAP　|　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MACHAP 事業計画</dc:title>
  <dc:subject>PptxGenJS Presentation</dc:subject>
  <dc:creator>PptxGenJS</dc:creator>
  <cp:lastModifiedBy>PptxGenJS</cp:lastModifiedBy>
  <cp:revision>1</cp:revision>
  <dcterms:created xsi:type="dcterms:W3CDTF">2026-03-04T04:37:26Z</dcterms:created>
  <dcterms:modified xsi:type="dcterms:W3CDTF">2026-03-04T04:37:26Z</dcterms:modified>
</cp:coreProperties>
</file>